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74519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"/>
              </a:defRPr>
            </a:pPr>
            <a:r>
              <a:t>PR Review Tracker</a:t>
            </a:r>
          </a:p>
          <a:p>
            <a:pPr>
              <a:spcBef>
                <a:spcPts val="1000"/>
              </a:spcBef>
              <a:defRPr sz="2400">
                <a:solidFill>
                  <a:srgbClr val="C9E0F5"/>
                </a:solidFill>
                <a:latin typeface="Calibri"/>
              </a:defRPr>
            </a:pPr>
            <a:r>
              <a:t>Automated Pull-Request Review Monitoring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A623"/>
                </a:solidFill>
                <a:latin typeface="Calibri"/>
              </a:defRPr>
            </a:pPr>
            <a:r>
              <a:t>Software Requirements Specification - IEEE Std 830-1998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  <a:latin typeface="Calibri"/>
              </a:defRPr>
            </a:pPr>
            <a:r>
              <a:t>Internship Final Project  |  PHP 8  +  MySQL/MariaDB  +  GitHub REST API  |  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01 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02   Product Overview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03   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04   User Classes &amp;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05   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06   PR Status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07   Non-Functional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3832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08   Data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2976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09   External Interfaces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212080"/>
            <a:ext cx="5120640" cy="822960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10   Future Enhancements &amp; Acceptance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F3A5F"/>
                </a:solidFill>
                <a:latin typeface="Calibri"/>
              </a:defRPr>
            </a:pPr>
            <a:r>
              <a:t>In 2026, AI-generated code accelerates development, but the human code-review queue becomes the bottleneck.</a:t>
            </a:r>
          </a:p>
          <a:p>
            <a:pPr>
              <a:spcAft>
                <a:spcPts val="400"/>
              </a:spcAft>
              <a:defRPr sz="1600" b="0">
                <a:solidFill>
                  <a:srgbClr val="21262B"/>
                </a:solidFill>
                <a:latin typeface="Calibri"/>
              </a:defRPr>
            </a:pPr>
            <a:r>
              <a:t>Pull requests (PRs) wait unreviewed for days</a:t>
            </a:r>
          </a:p>
          <a:p>
            <a:pPr>
              <a:spcAft>
                <a:spcPts val="400"/>
              </a:spcAft>
              <a:defRPr sz="1600" b="0">
                <a:solidFill>
                  <a:srgbClr val="21262B"/>
                </a:solidFill>
                <a:latin typeface="Calibri"/>
              </a:defRPr>
            </a:pPr>
            <a:r>
              <a:t>Release cycles get delayed - technical debt accumulates</a:t>
            </a:r>
          </a:p>
          <a:p>
            <a:pPr>
              <a:spcAft>
                <a:spcPts val="400"/>
              </a:spcAft>
              <a:defRPr sz="1600" b="0">
                <a:solidFill>
                  <a:srgbClr val="21262B"/>
                </a:solidFill>
                <a:latin typeface="Calibri"/>
              </a:defRPr>
            </a:pPr>
            <a:r>
              <a:t>No visibility into which PRs are stale or blocked</a:t>
            </a:r>
          </a:p>
          <a:p>
            <a:pPr>
              <a:spcAft>
                <a:spcPts val="400"/>
              </a:spcAft>
              <a:defRPr sz="1600" b="0">
                <a:solidFill>
                  <a:srgbClr val="21262B"/>
                </a:solidFill>
                <a:latin typeface="Calibri"/>
              </a:defRPr>
            </a:pPr>
            <a:r>
              <a:t>Reviewers have no central dashboard or workload analytics</a:t>
            </a:r>
          </a:p>
          <a:p>
            <a:pPr>
              <a:spcAft>
                <a:spcPts val="400"/>
              </a:spcAft>
              <a:defRPr sz="1600" b="0">
                <a:solidFill>
                  <a:srgbClr val="21262B"/>
                </a:solidFill>
                <a:latin typeface="Calibri"/>
              </a:defRPr>
            </a:pPr>
            <a:r>
              <a:t>No automated alerting when reviews are overdue</a:t>
            </a:r>
          </a:p>
          <a:p>
            <a:pPr>
              <a:spcAft>
                <a:spcPts val="400"/>
              </a:spcAft>
              <a:defRPr sz="1600" b="0">
                <a:solidFill>
                  <a:srgbClr val="21262B"/>
                </a:solidFill>
                <a:latin typeface="Calibri"/>
              </a:defRPr>
            </a:pPr>
            <a:r>
              <a:t>Teams depend on GitLab/GitHub built-ins only - no cross-repo monitoring or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Product Overview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3A5F"/>
                </a:solidFill>
                <a:latin typeface="Calibri"/>
              </a:defRPr>
            </a:pPr>
            <a:r>
              <a:t>A monitoring dashboard (not a code-review tool) that tracks the entire PR review workflow of a software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383280" cy="310896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E86DE"/>
                </a:solidFill>
                <a:latin typeface="Calibri"/>
              </a:defRPr>
            </a:pPr>
            <a:r>
              <a:t>Real-time Visibility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Fetches open PRs from GitHub API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Across multiple repositories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Live sync + webhook refresh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560320"/>
            <a:ext cx="3383280" cy="310896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5A623"/>
                </a:solidFill>
                <a:latin typeface="Calibri"/>
              </a:defRPr>
            </a:pPr>
            <a:r>
              <a:t>Automated Detection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Stale PRs (no activity &gt; STALE_DAYS)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Blocked PRs (requested changes)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Configurable threshold (default 2 days)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560320"/>
            <a:ext cx="3474720" cy="310896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8A745"/>
                </a:solidFill>
                <a:latin typeface="Calibri"/>
              </a:defRPr>
            </a:pPr>
            <a:r>
              <a:t>Review Workflow + Analytics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Record decisions with comments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Team KPIs &amp; per-reviewer stats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CSV report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472"/>
                </a:solidFill>
                <a:latin typeface="Calibri"/>
              </a:defRPr>
            </a:pPr>
            <a:r>
              <a:t>Solves the industry problem: review queue bottleneck caused by AI-accelerated code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51760" cy="420624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E86DE"/>
                </a:solidFill>
                <a:latin typeface="Calibri"/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HTML5 + CSS3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Bootstrap 5 (responsive)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Minimal vanilla JavaScript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Color-coded status badges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554480"/>
            <a:ext cx="2651760" cy="420624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F5A623"/>
                </a:solidFill>
                <a:latin typeface="Calibri"/>
              </a:defRPr>
            </a:pPr>
            <a:r>
              <a:t>Backend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PHP 8 (no framework)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PDO prepared statements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Sessions + CSRF protection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bcrypt password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2651760" cy="420624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8A745"/>
                </a:solidFill>
                <a:latin typeface="Calibri"/>
              </a:defRPr>
            </a:pPr>
            <a:r>
              <a:t>Data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MySQL / MariaDB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utf8mb4 charset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4 tables, FK cascade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Composite unique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554480"/>
            <a:ext cx="2651760" cy="420624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DC3545"/>
                </a:solidFill>
                <a:latin typeface="Calibri"/>
              </a:defRPr>
            </a:pPr>
            <a:r>
              <a:t>Integration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GitHub REST API (cURL)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HMAC webhook endpoint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Optional SMTP reminders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CSV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472"/>
                </a:solidFill>
                <a:latin typeface="Calibri"/>
              </a:defRPr>
            </a:pPr>
            <a:r>
              <a:t>Single-page-free server-rendered PHP app - portable across XAMPP / WAMP / LAMP / built-in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User Classes &amp;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Admin</a:t>
            </a:r>
          </a:p>
          <a:p>
            <a:pPr>
              <a:spcBef>
                <a:spcPts val="200"/>
              </a:spcBef>
              <a:defRPr sz="1400">
                <a:solidFill>
                  <a:srgbClr val="21262B"/>
                </a:solidFill>
                <a:latin typeface="Calibri"/>
              </a:defRPr>
            </a:pPr>
            <a:r>
              <a:t>Manage repositories, tokens, users &amp; roles; full visibility; submit reviews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24912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Reviewer</a:t>
            </a:r>
          </a:p>
          <a:p>
            <a:pPr>
              <a:spcBef>
                <a:spcPts val="200"/>
              </a:spcBef>
              <a:defRPr sz="1400">
                <a:solidFill>
                  <a:srgbClr val="21262B"/>
                </a:solidFill>
                <a:latin typeface="Calibri"/>
              </a:defRPr>
            </a:pPr>
            <a:r>
              <a:t>View PRs, submit review decisions, access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03904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Developer</a:t>
            </a:r>
          </a:p>
          <a:p>
            <a:pPr>
              <a:spcBef>
                <a:spcPts val="200"/>
              </a:spcBef>
              <a:defRPr sz="1400">
                <a:solidFill>
                  <a:srgbClr val="21262B"/>
                </a:solidFill>
                <a:latin typeface="Calibri"/>
              </a:defRPr>
            </a:pPr>
            <a:r>
              <a:t>View PRs (own + team); cannot submit reviews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82896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800" b="1">
                <a:solidFill>
                  <a:srgbClr val="2E86DE"/>
                </a:solidFill>
                <a:latin typeface="Calibri"/>
              </a:defRPr>
            </a:pPr>
            <a:r>
              <a:t>Guest</a:t>
            </a:r>
          </a:p>
          <a:p>
            <a:pPr>
              <a:spcBef>
                <a:spcPts val="200"/>
              </a:spcBef>
              <a:defRPr sz="1400">
                <a:solidFill>
                  <a:srgbClr val="21262B"/>
                </a:solidFill>
                <a:latin typeface="Calibri"/>
              </a:defRPr>
            </a:pPr>
            <a:r>
              <a:t>No access - redirected to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Functional Requirements -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Authentication   FR-01 ... FR-11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Register, login, RBAC, logout, session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59" y="155448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Repositories   FR-20 ... FR-25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Add/delete repos, token storage,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PR Syncing   FR-30 ... FR-36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GitHub fetch, upsert, close detection, webhook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269748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Dashboard   FR-40 ... FR-44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KPI cards, stale/latest lists, My PRs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PR Tracking   FR-50 ... FR-55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Status logic, filters, search, detail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384048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Reviews   FR-60 ... FR-64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Approve / changes / reject + comment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Reports   FR-70 ... FR-73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Tables, per-reviewer &amp; per-repo stats, 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4983480"/>
            <a:ext cx="5349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Reminders   FR-80 ... FR-81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Stale/blocked email alerts (CLI)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472"/>
                </a:solidFill>
                <a:latin typeface="Calibri"/>
              </a:defRPr>
            </a:pPr>
            <a:r>
              <a:t>81 requirements: 37 functional, 15 non-functional, 13 interface, 21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 Status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F3A5F"/>
                </a:solidFill>
                <a:latin typeface="Calibri"/>
              </a:defRPr>
            </a:pPr>
            <a:r>
              <a:t>Every PR status is computed automatically from its state, activity, and latest review decision (FR-50).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51760"/>
            <a:ext cx="2560320" cy="1737360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OPEN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Open PR, recently active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651760"/>
            <a:ext cx="2560320" cy="1737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STALE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Open, no activity &gt; STALE_DAYS (2)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2651760"/>
            <a:ext cx="2560320" cy="1737360"/>
          </a:xfrm>
          <a:prstGeom prst="rect">
            <a:avLst/>
          </a:prstGeom>
          <a:solidFill>
            <a:srgbClr val="DC3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BLOCKED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Open, latest review = request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2651760"/>
            <a:ext cx="2560320" cy="1737360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CLOSED</a:t>
            </a:r>
          </a:p>
          <a:p>
            <a:pPr algn="ctr">
              <a:spcBef>
                <a:spcPts val="600"/>
              </a:spcBef>
              <a:defRPr sz="1300">
                <a:solidFill>
                  <a:srgbClr val="FFFFFF"/>
                </a:solidFill>
                <a:latin typeface="Calibri"/>
              </a:defRPr>
            </a:pPr>
            <a:r>
              <a:t>Merged / closed - kept for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Detection enables</a:t>
            </a:r>
          </a:p>
          <a:p>
            <a:pPr>
              <a:spcAft>
                <a:spcPts val="400"/>
              </a:spcAft>
              <a:defRPr sz="1500" b="0">
                <a:solidFill>
                  <a:srgbClr val="21262B"/>
                </a:solidFill>
                <a:latin typeface="Calibri"/>
              </a:defRPr>
            </a:pPr>
            <a:r>
              <a:t>Stale list &amp; stale/blocked counters on the dashboard (FR-40, FR-41)</a:t>
            </a:r>
          </a:p>
          <a:p>
            <a:pPr>
              <a:spcAft>
                <a:spcPts val="400"/>
              </a:spcAft>
              <a:defRPr sz="1500" b="0">
                <a:solidFill>
                  <a:srgbClr val="21262B"/>
                </a:solidFill>
                <a:latin typeface="Calibri"/>
              </a:defRPr>
            </a:pPr>
            <a:r>
              <a:t>Filtering by status on the PR list (FR-52)</a:t>
            </a:r>
          </a:p>
          <a:p>
            <a:pPr>
              <a:spcAft>
                <a:spcPts val="400"/>
              </a:spcAft>
              <a:defRPr sz="1500" b="0">
                <a:solidFill>
                  <a:srgbClr val="21262B"/>
                </a:solidFill>
                <a:latin typeface="Calibri"/>
              </a:defRPr>
            </a:pPr>
            <a:r>
              <a:t>Reminder emails for stale &amp; blocked PRs (FR-80)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94960" cy="210312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Performance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Pages &lt; 2s load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500+ PRs without lag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Sync &lt; 30s / repo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Single DB connection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554480"/>
            <a:ext cx="5394960" cy="210312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Security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bcrypt passwords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PDO prepared SQL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Output escaped (XSS)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CSRF on all forms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Tokens never exposed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5394960" cy="210312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Reliability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Works offline from GitHub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Idempotent schema import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31920"/>
            <a:ext cx="5394960" cy="2103120"/>
          </a:xfrm>
          <a:prstGeom prst="rect">
            <a:avLst/>
          </a:prstGeom>
          <a:solidFill>
            <a:srgbClr val="F2F5F9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Usability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Self-explanatory UI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Color-coded badges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Actionable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472"/>
                </a:solidFill>
                <a:latin typeface="Calibri"/>
              </a:defRPr>
            </a:pPr>
            <a:r>
              <a:t>Also: maintainability (modular includes/), portability (only config.php changes per environment).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93192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27632"/>
            <a:ext cx="6583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21262B"/>
                </a:solidFill>
                <a:latin typeface="Calibri"/>
              </a:defRPr>
            </a:pPr>
            <a:r>
              <a:t>id, name, email (unique), role, github_username, password_hash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93192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633472"/>
            <a:ext cx="6583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21262B"/>
                </a:solidFill>
                <a:latin typeface="Calibri"/>
              </a:defRPr>
            </a:pPr>
            <a:r>
              <a:t>id, name, provider, repo_full_name (unique), sync_token, synced_at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393192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pull_requests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639312"/>
            <a:ext cx="6583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21262B"/>
                </a:solidFill>
                <a:latin typeface="Calibri"/>
              </a:defRPr>
            </a:pPr>
            <a:r>
              <a:t>id, repo_id, github_pr_number, title, author, url, state, last_activity_at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3931920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645152"/>
            <a:ext cx="6583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>
                <a:solidFill>
                  <a:srgbClr val="21262B"/>
                </a:solidFill>
                <a:latin typeface="Calibri"/>
              </a:defRPr>
            </a:pPr>
            <a:r>
              <a:t>id, pr_id, reviewer_id, decision, comment, reviewed_at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F3A5F"/>
                </a:solidFill>
                <a:latin typeface="Calibri"/>
              </a:defRPr>
            </a:pPr>
            <a:r>
              <a:t>Integrity rules</a:t>
            </a:r>
          </a:p>
          <a:p>
            <a:pPr>
              <a:spcAft>
                <a:spcPts val="400"/>
              </a:spcAft>
              <a:defRPr sz="1400" b="0">
                <a:solidFill>
                  <a:srgbClr val="21262B"/>
                </a:solidFill>
                <a:latin typeface="Calibri"/>
              </a:defRPr>
            </a:pPr>
            <a:r>
              <a:t>Foreign keys with ON DELETE CASCADE  |  composite unique (repo_id, github_pr_number)  |  restricted decision &amp; role enums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External Interface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E86DE"/>
                </a:solidFill>
                <a:latin typeface="Calibri"/>
              </a:defRPr>
            </a:pPr>
            <a:r>
              <a:t>User Interface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Responsive Bootstrap 5 UI, persistent nav, role label in navbar, 320px-1920px+, alert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59" y="155448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E86DE"/>
                </a:solidFill>
                <a:latin typeface="Calibri"/>
              </a:defRPr>
            </a:pPr>
            <a:r>
              <a:t>GitHub REST API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GET /repos/{owner}/{repo}/pulls?state=open with User-Agent + Bearer token (optional)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7180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E86DE"/>
                </a:solidFill>
                <a:latin typeface="Calibri"/>
              </a:defRPr>
            </a:pPr>
            <a:r>
              <a:t>MySQL / MariaDB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PDO connection, utf8mb4, exception-based error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297180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E86DE"/>
                </a:solidFill>
                <a:latin typeface="Calibri"/>
              </a:defRPr>
            </a:pPr>
            <a:r>
              <a:t>Webhook (optional)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JSON payloads, HMAC-SHA256 signature verification, auto re-sync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E86DE"/>
                </a:solidFill>
                <a:latin typeface="Calibri"/>
              </a:defRPr>
            </a:pPr>
            <a:r>
              <a:t>Mail (optional)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PHP mail() for stale/blocked reminders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438912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>
              <a:spcAft>
                <a:spcPts val="400"/>
              </a:spcAft>
              <a:defRPr sz="1500" b="1">
                <a:solidFill>
                  <a:srgbClr val="2E86DE"/>
                </a:solidFill>
                <a:latin typeface="Calibri"/>
              </a:defRPr>
            </a:pPr>
            <a:r>
              <a:t>Communication</a:t>
            </a:r>
          </a:p>
          <a:p>
            <a:pPr>
              <a:spcAft>
                <a:spcPts val="400"/>
              </a:spcAft>
              <a:defRPr sz="1200" b="0">
                <a:solidFill>
                  <a:srgbClr val="21262B"/>
                </a:solidFill>
                <a:latin typeface="Calibri"/>
              </a:defRPr>
            </a:pPr>
            <a:r>
              <a:t>HTTPS on 80/443, outbound 443 to api.github.com, DB over TCP/socket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Security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>
                <a:solidFill>
                  <a:srgbClr val="21262B"/>
                </a:solidFill>
                <a:latin typeface="Calibri"/>
              </a:defRPr>
            </a:pPr>
            <a:r>
              <a:t>bcrypt password hashing (password_hash / password_verify)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>
                <a:solidFill>
                  <a:srgbClr val="21262B"/>
                </a:solidFill>
                <a:latin typeface="Calibri"/>
              </a:defRPr>
            </a:pPr>
            <a:r>
              <a:t>PDO prepared statements - no SQL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54096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>
                <a:solidFill>
                  <a:srgbClr val="21262B"/>
                </a:solidFill>
                <a:latin typeface="Calibri"/>
              </a:defRPr>
            </a:pPr>
            <a:r>
              <a:t>htmlspecialchars on all output - XSS resistant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712464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>
                <a:solidFill>
                  <a:srgbClr val="21262B"/>
                </a:solidFill>
                <a:latin typeface="Calibri"/>
              </a:defRPr>
            </a:pPr>
            <a:r>
              <a:t>CSRF token on every state-changing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70831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>
                <a:solidFill>
                  <a:srgbClr val="21262B"/>
                </a:solidFill>
                <a:latin typeface="Calibri"/>
              </a:defRPr>
            </a:pPr>
            <a:r>
              <a:t>GitHub tokens stored in DB, never rendered or logged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>
                <a:solidFill>
                  <a:srgbClr val="21262B"/>
                </a:solidFill>
                <a:latin typeface="Calibri"/>
              </a:defRPr>
            </a:pPr>
            <a:r>
              <a:t>Session ID regenerated on login (anti-fixation)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687568"/>
            <a:ext cx="10698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>
                <a:solidFill>
                  <a:srgbClr val="21262B"/>
                </a:solidFill>
                <a:latin typeface="Calibri"/>
              </a:defRPr>
            </a:pPr>
            <a:r>
              <a:t>Server-side role checks on every protected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F3A5F"/>
                </a:solidFill>
                <a:latin typeface="Calibri"/>
              </a:defRPr>
            </a:pPr>
            <a:r>
              <a:t>FE-01  GitLab API integration (2nd provider)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59" y="15544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F3A5F"/>
                </a:solidFill>
                <a:latin typeface="Calibri"/>
              </a:defRPr>
            </a:pPr>
            <a:r>
              <a:t>FE-02  Write review decisions back to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F3A5F"/>
                </a:solidFill>
                <a:latin typeface="Calibri"/>
              </a:defRPr>
            </a:pPr>
            <a:r>
              <a:t>FE-03  Slack / Teams / Telegram notifications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26974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F3A5F"/>
                </a:solidFill>
                <a:latin typeface="Calibri"/>
              </a:defRPr>
            </a:pPr>
            <a:r>
              <a:t>FE-04  AI-generated PR summaries &amp; review suggestions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F3A5F"/>
                </a:solidFill>
                <a:latin typeface="Calibri"/>
              </a:defRPr>
            </a:pPr>
            <a:r>
              <a:t>FE-05  Pagination for 100+ open PRs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38404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F3A5F"/>
                </a:solidFill>
                <a:latin typeface="Calibri"/>
              </a:defRPr>
            </a:pPr>
            <a:r>
              <a:t>FE-06  Chart.js trend analytics on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F3A5F"/>
                </a:solidFill>
                <a:latin typeface="Calibri"/>
              </a:defRPr>
            </a:pPr>
            <a:r>
              <a:t>FE-07  Flutter mobile app wrapping the 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498348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500" b="1">
                <a:solidFill>
                  <a:srgbClr val="1F3A5F"/>
                </a:solidFill>
                <a:latin typeface="Calibri"/>
              </a:defRPr>
            </a:pPr>
            <a:r>
              <a:t>FE-08  GitHub OAuth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Acceptance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Admin login - redirect to dashboard, KPIs 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59" y="155448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Role guard - developer blocked from Users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Sync octocat/Hello-World - PRs appear in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59" y="242316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Double sync - no duplicate PR 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39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Stale PR seeded - shows 'Stale' badge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3291839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Request-changes review - shows 'Blocked' badge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6052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Review comment - visible in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416052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CSV export - file downloads with PR 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SQL injection attempt - treated as literal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5029200"/>
            <a:ext cx="5349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>
              <a:defRPr sz="1300">
                <a:solidFill>
                  <a:srgbClr val="21262B"/>
                </a:solidFill>
                <a:latin typeface="Calibri"/>
              </a:defRPr>
            </a:pPr>
            <a:r>
              <a:t>POST without CSRF token - rejected (400)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2"/>
                </a:solidFill>
                <a:latin typeface="Calibri"/>
              </a:defRPr>
            </a:pPr>
            <a:r>
              <a:t>PR Review Tracker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400">
                <a:solidFill>
                  <a:srgbClr val="F5A623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FFFFFF"/>
                </a:solidFill>
                <a:latin typeface="Calibri"/>
              </a:defRPr>
            </a:pPr>
            <a:r>
              <a:t>PR Review Tracker - SRS (IEEE 830-1998) | Version 1.0 | Final</a:t>
            </a:r>
          </a:p>
          <a:p>
            <a:pPr algn="ctr">
              <a:spcBef>
                <a:spcPts val="600"/>
              </a:spcBef>
              <a:defRPr sz="1300">
                <a:solidFill>
                  <a:srgbClr val="C9E0F5"/>
                </a:solidFill>
                <a:latin typeface="Calibri"/>
              </a:defRPr>
            </a:pPr>
            <a:r>
              <a:t>PHP 8  |  MySQL/MariaDB  |  Bootstrap 5  |  GitHub REST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